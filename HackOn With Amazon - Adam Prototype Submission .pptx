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Pacifico"/>
      <p:regular r:id="rId16"/>
    </p:embeddedFont>
    <p:embeddedFont>
      <p:font typeface="NTR"/>
      <p:regular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NTR-regular.fntdata"/><Relationship Id="rId16" Type="http://schemas.openxmlformats.org/officeDocument/2006/relationships/font" Target="fonts/Pacific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61d81e7551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361d81e7551_2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620b7f3c1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3620b7f3c1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620b7f3c1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620b7f3c1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61d81e7551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61d81e7551_2_6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61d81e7551_2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61d81e7551_2_6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61d81e7551_2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61d81e7551_2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6a70d5b73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6a70d5b73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6a70d5b73c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6a70d5b73c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677fa4271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677fa4271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6" name="Shape 56"/>
        <p:cNvGrpSpPr/>
        <p:nvPr/>
      </p:nvGrpSpPr>
      <p:grpSpPr>
        <a:xfrm>
          <a:off x="0" y="0"/>
          <a:ext cx="0" cy="0"/>
          <a:chOff x="0" y="0"/>
          <a:chExt cx="0" cy="0"/>
        </a:xfrm>
      </p:grpSpPr>
      <p:sp>
        <p:nvSpPr>
          <p:cNvPr id="57" name="Google Shape;57;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232F3E"/>
              </a:buClr>
              <a:buSzPts val="3300"/>
              <a:buFont typeface="Arial"/>
              <a:buNone/>
              <a:defRPr>
                <a:solidFill>
                  <a:srgbClr val="232F3E"/>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8" name="Google Shape;58;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rgbClr val="232F3E"/>
              </a:buClr>
              <a:buSzPts val="2100"/>
              <a:buChar char="●"/>
              <a:defRPr>
                <a:solidFill>
                  <a:srgbClr val="232F3E"/>
                </a:solidFill>
                <a:latin typeface="Arial"/>
                <a:ea typeface="Arial"/>
                <a:cs typeface="Arial"/>
                <a:sym typeface="Arial"/>
              </a:defRPr>
            </a:lvl1pPr>
            <a:lvl2pPr indent="-342900" lvl="1" marL="914400" algn="l">
              <a:lnSpc>
                <a:spcPct val="90000"/>
              </a:lnSpc>
              <a:spcBef>
                <a:spcPts val="1200"/>
              </a:spcBef>
              <a:spcAft>
                <a:spcPts val="0"/>
              </a:spcAft>
              <a:buClr>
                <a:srgbClr val="232F3E"/>
              </a:buClr>
              <a:buSzPts val="1800"/>
              <a:buChar char="○"/>
              <a:defRPr>
                <a:solidFill>
                  <a:srgbClr val="232F3E"/>
                </a:solidFill>
                <a:latin typeface="Arial"/>
                <a:ea typeface="Arial"/>
                <a:cs typeface="Arial"/>
                <a:sym typeface="Arial"/>
              </a:defRPr>
            </a:lvl2pPr>
            <a:lvl3pPr indent="-323850" lvl="2" marL="1371600" algn="l">
              <a:lnSpc>
                <a:spcPct val="90000"/>
              </a:lnSpc>
              <a:spcBef>
                <a:spcPts val="1200"/>
              </a:spcBef>
              <a:spcAft>
                <a:spcPts val="0"/>
              </a:spcAft>
              <a:buClr>
                <a:srgbClr val="232F3E"/>
              </a:buClr>
              <a:buSzPts val="1500"/>
              <a:buChar char="■"/>
              <a:defRPr>
                <a:solidFill>
                  <a:srgbClr val="232F3E"/>
                </a:solidFill>
                <a:latin typeface="Arial"/>
                <a:ea typeface="Arial"/>
                <a:cs typeface="Arial"/>
                <a:sym typeface="Arial"/>
              </a:defRPr>
            </a:lvl3pPr>
            <a:lvl4pPr indent="-317500" lvl="3" marL="1828800" algn="l">
              <a:lnSpc>
                <a:spcPct val="90000"/>
              </a:lnSpc>
              <a:spcBef>
                <a:spcPts val="1200"/>
              </a:spcBef>
              <a:spcAft>
                <a:spcPts val="0"/>
              </a:spcAft>
              <a:buClr>
                <a:srgbClr val="232F3E"/>
              </a:buClr>
              <a:buSzPts val="1400"/>
              <a:buChar char="●"/>
              <a:defRPr>
                <a:solidFill>
                  <a:srgbClr val="232F3E"/>
                </a:solidFill>
                <a:latin typeface="Arial"/>
                <a:ea typeface="Arial"/>
                <a:cs typeface="Arial"/>
                <a:sym typeface="Arial"/>
              </a:defRPr>
            </a:lvl4pPr>
            <a:lvl5pPr indent="-317500" lvl="4" marL="2286000" algn="l">
              <a:lnSpc>
                <a:spcPct val="90000"/>
              </a:lnSpc>
              <a:spcBef>
                <a:spcPts val="1200"/>
              </a:spcBef>
              <a:spcAft>
                <a:spcPts val="0"/>
              </a:spcAft>
              <a:buClr>
                <a:srgbClr val="232F3E"/>
              </a:buClr>
              <a:buSzPts val="1400"/>
              <a:buChar char="○"/>
              <a:defRPr>
                <a:solidFill>
                  <a:srgbClr val="232F3E"/>
                </a:solidFill>
                <a:latin typeface="Arial"/>
                <a:ea typeface="Arial"/>
                <a:cs typeface="Arial"/>
                <a:sym typeface="Arial"/>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9" name="Google Shape;59;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232F3E"/>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0" name="Google Shape;60;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232F3E"/>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1" name="Google Shape;61;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32F3E"/>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32F3E"/>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32F3E"/>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32F3E"/>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32F3E"/>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32F3E"/>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32F3E"/>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32F3E"/>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32F3E"/>
                </a:solidFill>
                <a:latin typeface="Arial"/>
                <a:ea typeface="Arial"/>
                <a:cs typeface="Arial"/>
                <a:sym typeface="Arial"/>
              </a:defRPr>
            </a:lvl9pPr>
          </a:lstStyle>
          <a:p>
            <a:pPr indent="0" lvl="0" marL="0" rtl="0" algn="r">
              <a:spcBef>
                <a:spcPts val="0"/>
              </a:spcBef>
              <a:spcAft>
                <a:spcPts val="0"/>
              </a:spcAft>
              <a:buNone/>
            </a:pPr>
            <a:r>
              <a:rPr lang="en"/>
              <a:t>&lt;#&gt;</a:t>
            </a:r>
            <a:endParaRPr sz="1000">
              <a:solidFill>
                <a:schemeClr val="dk2"/>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sp>
        <p:nvSpPr>
          <p:cNvPr id="63" name="Google Shape;63;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5" name="Google Shape;6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8" name="Google Shape;68;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0" name="Shape 70"/>
        <p:cNvGrpSpPr/>
        <p:nvPr/>
      </p:nvGrpSpPr>
      <p:grpSpPr>
        <a:xfrm>
          <a:off x="0" y="0"/>
          <a:ext cx="0" cy="0"/>
          <a:chOff x="0" y="0"/>
          <a:chExt cx="0" cy="0"/>
        </a:xfrm>
      </p:grpSpPr>
      <p:sp>
        <p:nvSpPr>
          <p:cNvPr id="71" name="Google Shape;71;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 name="Google Shape;75;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 name="Google Shape;77;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0" name="Google Shape;8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 name="Shape 81"/>
        <p:cNvGrpSpPr/>
        <p:nvPr/>
      </p:nvGrpSpPr>
      <p:grpSpPr>
        <a:xfrm>
          <a:off x="0" y="0"/>
          <a:ext cx="0" cy="0"/>
          <a:chOff x="0" y="0"/>
          <a:chExt cx="0" cy="0"/>
        </a:xfrm>
      </p:grpSpPr>
      <p:sp>
        <p:nvSpPr>
          <p:cNvPr id="82" name="Google Shape;82;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3" name="Google Shape;83;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4" name="Google Shape;84;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7" name="Google Shape;8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8" name="Shape 88"/>
        <p:cNvGrpSpPr/>
        <p:nvPr/>
      </p:nvGrpSpPr>
      <p:grpSpPr>
        <a:xfrm>
          <a:off x="0" y="0"/>
          <a:ext cx="0" cy="0"/>
          <a:chOff x="0" y="0"/>
          <a:chExt cx="0" cy="0"/>
        </a:xfrm>
      </p:grpSpPr>
      <p:sp>
        <p:nvSpPr>
          <p:cNvPr id="89" name="Google Shape;89;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1" name="Google Shape;91;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2" name="Google Shape;92;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3" name="Google Shape;93;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6" name="Google Shape;9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7" name="Shape 97"/>
        <p:cNvGrpSpPr/>
        <p:nvPr/>
      </p:nvGrpSpPr>
      <p:grpSpPr>
        <a:xfrm>
          <a:off x="0" y="0"/>
          <a:ext cx="0" cy="0"/>
          <a:chOff x="0" y="0"/>
          <a:chExt cx="0" cy="0"/>
        </a:xfrm>
      </p:grpSpPr>
      <p:sp>
        <p:nvSpPr>
          <p:cNvPr id="98" name="Google Shape;98;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9" name="Google Shape;99;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00" name="Google Shape;10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3.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1D27"/>
        </a:solidFill>
      </p:bgPr>
    </p:bg>
    <p:spTree>
      <p:nvGrpSpPr>
        <p:cNvPr id="104" name="Shape 104"/>
        <p:cNvGrpSpPr/>
        <p:nvPr/>
      </p:nvGrpSpPr>
      <p:grpSpPr>
        <a:xfrm>
          <a:off x="0" y="0"/>
          <a:ext cx="0" cy="0"/>
          <a:chOff x="0" y="0"/>
          <a:chExt cx="0" cy="0"/>
        </a:xfrm>
      </p:grpSpPr>
      <p:pic>
        <p:nvPicPr>
          <p:cNvPr id="105" name="Google Shape;105;p26" title="Launch KIt_logo hackon.jpg"/>
          <p:cNvPicPr preferRelativeResize="0"/>
          <p:nvPr/>
        </p:nvPicPr>
        <p:blipFill rotWithShape="1">
          <a:blip r:embed="rId3">
            <a:alphaModFix/>
          </a:blip>
          <a:srcRect b="0" l="0" r="0" t="0"/>
          <a:stretch/>
        </p:blipFill>
        <p:spPr>
          <a:xfrm>
            <a:off x="3143250" y="541625"/>
            <a:ext cx="2857500" cy="2857500"/>
          </a:xfrm>
          <a:prstGeom prst="rect">
            <a:avLst/>
          </a:prstGeom>
          <a:noFill/>
          <a:ln>
            <a:noFill/>
          </a:ln>
        </p:spPr>
      </p:pic>
      <p:sp>
        <p:nvSpPr>
          <p:cNvPr id="106" name="Google Shape;106;p26"/>
          <p:cNvSpPr txBox="1"/>
          <p:nvPr/>
        </p:nvSpPr>
        <p:spPr>
          <a:xfrm>
            <a:off x="2732400" y="3399125"/>
            <a:ext cx="3679200" cy="1306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Prototype Submission</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7"/>
          <p:cNvSpPr txBox="1"/>
          <p:nvPr>
            <p:ph type="title"/>
          </p:nvPr>
        </p:nvSpPr>
        <p:spPr>
          <a:xfrm>
            <a:off x="311700" y="0"/>
            <a:ext cx="88323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Team Details</a:t>
            </a:r>
            <a:endParaRPr/>
          </a:p>
        </p:txBody>
      </p:sp>
      <p:sp>
        <p:nvSpPr>
          <p:cNvPr id="112" name="Google Shape;112;p27"/>
          <p:cNvSpPr txBox="1"/>
          <p:nvPr>
            <p:ph idx="1" type="body"/>
          </p:nvPr>
        </p:nvSpPr>
        <p:spPr>
          <a:xfrm>
            <a:off x="-156550" y="682075"/>
            <a:ext cx="9359100" cy="4461600"/>
          </a:xfrm>
          <a:prstGeom prst="rect">
            <a:avLst/>
          </a:prstGeom>
          <a:noFill/>
          <a:ln>
            <a:noFill/>
          </a:ln>
        </p:spPr>
        <p:txBody>
          <a:bodyPr anchorCtr="0" anchor="t" bIns="91425" lIns="91425" spcFirstLastPara="1" rIns="91425" wrap="square" tIns="91425">
            <a:noAutofit/>
          </a:bodyPr>
          <a:lstStyle/>
          <a:p>
            <a:pPr indent="0" lvl="0" marL="114300" rtl="0" algn="l">
              <a:lnSpc>
                <a:spcPct val="100000"/>
              </a:lnSpc>
              <a:spcBef>
                <a:spcPts val="0"/>
              </a:spcBef>
              <a:spcAft>
                <a:spcPts val="0"/>
              </a:spcAft>
              <a:buSzPts val="1946"/>
              <a:buNone/>
            </a:pPr>
            <a:r>
              <a:rPr b="1" lang="en" sz="3300">
                <a:solidFill>
                  <a:schemeClr val="dk1"/>
                </a:solidFill>
                <a:latin typeface="NTR"/>
                <a:ea typeface="NTR"/>
                <a:cs typeface="NTR"/>
                <a:sym typeface="NTR"/>
              </a:rPr>
              <a:t>                             Team Name - Adam </a:t>
            </a:r>
            <a:endParaRPr b="1" sz="3300">
              <a:solidFill>
                <a:schemeClr val="dk1"/>
              </a:solidFill>
              <a:latin typeface="NTR"/>
              <a:ea typeface="NTR"/>
              <a:cs typeface="NTR"/>
              <a:sym typeface="NTR"/>
            </a:endParaRPr>
          </a:p>
          <a:p>
            <a:pPr indent="0" lvl="0" marL="114300" rtl="0" algn="l">
              <a:lnSpc>
                <a:spcPct val="100000"/>
              </a:lnSpc>
              <a:spcBef>
                <a:spcPts val="0"/>
              </a:spcBef>
              <a:spcAft>
                <a:spcPts val="0"/>
              </a:spcAft>
              <a:buSzPts val="1946"/>
              <a:buNone/>
            </a:pPr>
            <a:r>
              <a:rPr b="1" lang="en" sz="2500">
                <a:solidFill>
                  <a:schemeClr val="dk1"/>
                </a:solidFill>
                <a:latin typeface="NTR"/>
                <a:ea typeface="NTR"/>
                <a:cs typeface="NTR"/>
                <a:sym typeface="NTR"/>
              </a:rPr>
              <a:t>                        </a:t>
            </a:r>
            <a:r>
              <a:rPr lang="en" sz="2500">
                <a:solidFill>
                  <a:schemeClr val="dk1"/>
                </a:solidFill>
                <a:latin typeface="NTR"/>
                <a:ea typeface="NTR"/>
                <a:cs typeface="NTR"/>
                <a:sym typeface="NTR"/>
              </a:rPr>
              <a:t>(</a:t>
            </a:r>
            <a:r>
              <a:rPr b="1" lang="en" sz="2500">
                <a:solidFill>
                  <a:schemeClr val="dk1"/>
                </a:solidFill>
                <a:latin typeface="NTR"/>
                <a:ea typeface="NTR"/>
                <a:cs typeface="NTR"/>
                <a:sym typeface="NTR"/>
              </a:rPr>
              <a:t> </a:t>
            </a:r>
            <a:r>
              <a:rPr lang="en" sz="2500">
                <a:solidFill>
                  <a:schemeClr val="dk1"/>
                </a:solidFill>
                <a:latin typeface="NTR"/>
                <a:ea typeface="NTR"/>
                <a:cs typeface="NTR"/>
                <a:sym typeface="NTR"/>
              </a:rPr>
              <a:t>Cauz we need momentum saving our life plan’s)</a:t>
            </a:r>
            <a:endParaRPr sz="3300">
              <a:solidFill>
                <a:schemeClr val="dk1"/>
              </a:solidFill>
              <a:latin typeface="NTR"/>
              <a:ea typeface="NTR"/>
              <a:cs typeface="NTR"/>
              <a:sym typeface="NTR"/>
            </a:endParaRPr>
          </a:p>
          <a:p>
            <a:pPr indent="0" lvl="0" marL="114300" rtl="0" algn="l">
              <a:lnSpc>
                <a:spcPct val="100000"/>
              </a:lnSpc>
              <a:spcBef>
                <a:spcPts val="0"/>
              </a:spcBef>
              <a:spcAft>
                <a:spcPts val="0"/>
              </a:spcAft>
              <a:buSzPts val="1946"/>
              <a:buNone/>
            </a:pPr>
            <a:r>
              <a:rPr b="1" lang="en" sz="3300">
                <a:solidFill>
                  <a:schemeClr val="dk1"/>
                </a:solidFill>
                <a:latin typeface="NTR"/>
                <a:ea typeface="NTR"/>
                <a:cs typeface="NTR"/>
                <a:sym typeface="NTR"/>
              </a:rPr>
              <a:t>                           Member 1 - Soham Bose</a:t>
            </a:r>
            <a:endParaRPr b="1" sz="3300">
              <a:solidFill>
                <a:schemeClr val="dk1"/>
              </a:solidFill>
              <a:latin typeface="NTR"/>
              <a:ea typeface="NTR"/>
              <a:cs typeface="NTR"/>
              <a:sym typeface="NTR"/>
            </a:endParaRPr>
          </a:p>
          <a:p>
            <a:pPr indent="0" lvl="0" marL="114300" rtl="0" algn="l">
              <a:lnSpc>
                <a:spcPct val="100000"/>
              </a:lnSpc>
              <a:spcBef>
                <a:spcPts val="0"/>
              </a:spcBef>
              <a:spcAft>
                <a:spcPts val="0"/>
              </a:spcAft>
              <a:buSzPts val="1946"/>
              <a:buNone/>
            </a:pPr>
            <a:r>
              <a:t/>
            </a:r>
            <a:endParaRPr b="1" sz="3300">
              <a:solidFill>
                <a:schemeClr val="dk1"/>
              </a:solidFill>
              <a:latin typeface="NTR"/>
              <a:ea typeface="NTR"/>
              <a:cs typeface="NTR"/>
              <a:sym typeface="NTR"/>
            </a:endParaRPr>
          </a:p>
          <a:p>
            <a:pPr indent="0" lvl="0" marL="114300" rtl="0" algn="l">
              <a:lnSpc>
                <a:spcPct val="100000"/>
              </a:lnSpc>
              <a:spcBef>
                <a:spcPts val="0"/>
              </a:spcBef>
              <a:spcAft>
                <a:spcPts val="0"/>
              </a:spcAft>
              <a:buSzPts val="1946"/>
              <a:buNone/>
            </a:pPr>
            <a:r>
              <a:rPr b="1" lang="en" sz="3300">
                <a:solidFill>
                  <a:schemeClr val="dk1"/>
                </a:solidFill>
                <a:latin typeface="NTR"/>
                <a:ea typeface="NTR"/>
                <a:cs typeface="NTR"/>
                <a:sym typeface="NTR"/>
              </a:rPr>
              <a:t>                           Member 2 - Debjit Dhar</a:t>
            </a:r>
            <a:endParaRPr b="1" sz="3300">
              <a:solidFill>
                <a:schemeClr val="dk1"/>
              </a:solidFill>
              <a:latin typeface="NTR"/>
              <a:ea typeface="NTR"/>
              <a:cs typeface="NTR"/>
              <a:sym typeface="NTR"/>
            </a:endParaRPr>
          </a:p>
          <a:p>
            <a:pPr indent="0" lvl="0" marL="114300" rtl="0" algn="l">
              <a:lnSpc>
                <a:spcPct val="100000"/>
              </a:lnSpc>
              <a:spcBef>
                <a:spcPts val="0"/>
              </a:spcBef>
              <a:spcAft>
                <a:spcPts val="0"/>
              </a:spcAft>
              <a:buSzPts val="1946"/>
              <a:buNone/>
            </a:pPr>
            <a:r>
              <a:t/>
            </a:r>
            <a:endParaRPr b="1" sz="3300">
              <a:solidFill>
                <a:schemeClr val="dk1"/>
              </a:solidFill>
              <a:latin typeface="NTR"/>
              <a:ea typeface="NTR"/>
              <a:cs typeface="NTR"/>
              <a:sym typeface="NTR"/>
            </a:endParaRPr>
          </a:p>
          <a:p>
            <a:pPr indent="0" lvl="0" marL="114300" rtl="0" algn="l">
              <a:lnSpc>
                <a:spcPct val="100000"/>
              </a:lnSpc>
              <a:spcBef>
                <a:spcPts val="0"/>
              </a:spcBef>
              <a:spcAft>
                <a:spcPts val="0"/>
              </a:spcAft>
              <a:buSzPts val="1946"/>
              <a:buNone/>
            </a:pPr>
            <a:r>
              <a:rPr b="1" lang="en" sz="3300">
                <a:solidFill>
                  <a:schemeClr val="dk1"/>
                </a:solidFill>
                <a:latin typeface="NTR"/>
                <a:ea typeface="NTR"/>
                <a:cs typeface="NTR"/>
                <a:sym typeface="NTR"/>
              </a:rPr>
              <a:t>                           Member 3 - Soham Lahiri</a:t>
            </a:r>
            <a:endParaRPr b="1" sz="3300">
              <a:solidFill>
                <a:schemeClr val="dk1"/>
              </a:solidFill>
              <a:latin typeface="NTR"/>
              <a:ea typeface="NTR"/>
              <a:cs typeface="NTR"/>
              <a:sym typeface="NT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8"/>
          <p:cNvSpPr txBox="1"/>
          <p:nvPr>
            <p:ph type="title"/>
          </p:nvPr>
        </p:nvSpPr>
        <p:spPr>
          <a:xfrm>
            <a:off x="311700" y="0"/>
            <a:ext cx="88323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                               Problem Statement</a:t>
            </a:r>
            <a:endParaRPr/>
          </a:p>
        </p:txBody>
      </p:sp>
      <p:sp>
        <p:nvSpPr>
          <p:cNvPr id="118" name="Google Shape;118;p28"/>
          <p:cNvSpPr txBox="1"/>
          <p:nvPr>
            <p:ph idx="1" type="body"/>
          </p:nvPr>
        </p:nvSpPr>
        <p:spPr>
          <a:xfrm>
            <a:off x="0" y="682075"/>
            <a:ext cx="9144000" cy="4461600"/>
          </a:xfrm>
          <a:prstGeom prst="rect">
            <a:avLst/>
          </a:prstGeom>
          <a:noFill/>
          <a:ln>
            <a:noFill/>
          </a:ln>
        </p:spPr>
        <p:txBody>
          <a:bodyPr anchorCtr="0" anchor="t" bIns="91425" lIns="91425" spcFirstLastPara="1" rIns="91425" wrap="square" tIns="91425">
            <a:noAutofit/>
          </a:bodyPr>
          <a:lstStyle/>
          <a:p>
            <a:pPr indent="0" lvl="0" marL="114300" rtl="0" algn="l">
              <a:lnSpc>
                <a:spcPct val="100000"/>
              </a:lnSpc>
              <a:spcBef>
                <a:spcPts val="0"/>
              </a:spcBef>
              <a:spcAft>
                <a:spcPts val="0"/>
              </a:spcAft>
              <a:buSzPts val="1946"/>
              <a:buNone/>
            </a:pPr>
            <a:r>
              <a:rPr b="1" lang="en" sz="3300">
                <a:solidFill>
                  <a:schemeClr val="dk1"/>
                </a:solidFill>
              </a:rPr>
              <a:t>                </a:t>
            </a:r>
            <a:r>
              <a:rPr lang="en" sz="2500" u="sng">
                <a:solidFill>
                  <a:schemeClr val="dk1"/>
                </a:solidFill>
              </a:rPr>
              <a:t>Topic 2 - AI-Powered Trust &amp; Safety Platform</a:t>
            </a:r>
            <a:endParaRPr sz="2500" u="sng">
              <a:solidFill>
                <a:schemeClr val="dk1"/>
              </a:solidFill>
            </a:endParaRPr>
          </a:p>
          <a:p>
            <a:pPr indent="0" lvl="0" marL="114300" rtl="0" algn="l">
              <a:lnSpc>
                <a:spcPct val="100000"/>
              </a:lnSpc>
              <a:spcBef>
                <a:spcPts val="0"/>
              </a:spcBef>
              <a:spcAft>
                <a:spcPts val="0"/>
              </a:spcAft>
              <a:buSzPts val="1946"/>
              <a:buNone/>
            </a:pPr>
            <a:r>
              <a:t/>
            </a:r>
            <a:endParaRPr sz="25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2500">
                <a:solidFill>
                  <a:schemeClr val="dk1"/>
                </a:solidFill>
              </a:rPr>
              <a:t>Develop AI solutions to enhance marketplace trust through advance fraud detection, counterfeit prevention, and review authenticity verification. Use LLMs to analyze patterns in ratings, reviews and product listings to protect customer trust. Include real-time monitoring of product lifecycle from listing  to returns.</a:t>
            </a:r>
            <a:endParaRPr sz="2500">
              <a:solidFill>
                <a:schemeClr val="dk1"/>
              </a:solidFill>
            </a:endParaRPr>
          </a:p>
          <a:p>
            <a:pPr indent="0" lvl="0" marL="114300" rtl="0" algn="l">
              <a:lnSpc>
                <a:spcPct val="100000"/>
              </a:lnSpc>
              <a:spcBef>
                <a:spcPts val="0"/>
              </a:spcBef>
              <a:spcAft>
                <a:spcPts val="0"/>
              </a:spcAft>
              <a:buSzPts val="1946"/>
              <a:buNone/>
            </a:pPr>
            <a:r>
              <a:t/>
            </a:r>
            <a:endParaRPr sz="2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9"/>
          <p:cNvSpPr txBox="1"/>
          <p:nvPr>
            <p:ph type="title"/>
          </p:nvPr>
        </p:nvSpPr>
        <p:spPr>
          <a:xfrm>
            <a:off x="311700" y="0"/>
            <a:ext cx="88323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Marketplace Trust Challenges</a:t>
            </a:r>
            <a:endParaRPr/>
          </a:p>
        </p:txBody>
      </p:sp>
      <p:sp>
        <p:nvSpPr>
          <p:cNvPr id="124" name="Google Shape;124;p29"/>
          <p:cNvSpPr txBox="1"/>
          <p:nvPr>
            <p:ph idx="1" type="body"/>
          </p:nvPr>
        </p:nvSpPr>
        <p:spPr>
          <a:xfrm>
            <a:off x="0" y="682075"/>
            <a:ext cx="9144000" cy="44616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a:solidFill>
                  <a:schemeClr val="dk1"/>
                </a:solidFill>
              </a:rPr>
              <a:t>Problem 1: Counterfeit Listings</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Fake product listings mimic genuine items with misleading images and descriptions.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Stock images reused to misrepresent multiple fake ASINs.</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Problem 2: Fake Sellers &amp; Review Rings</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Multiple accounts used to flood listings and manipulate seller reputation.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Coordinated fake reviews and review bursts obscure real user feedback.</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Problem 3: Review Integrity Breakdown</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Reviews from non-purchasing or newly created accounts.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Bots and colluding users generate spammy 5★ or 1★ reviews rapidly after product listing.</a:t>
            </a:r>
            <a:endParaRPr>
              <a:solidFill>
                <a:schemeClr val="dk1"/>
              </a:solidFill>
            </a:endParaRPr>
          </a:p>
          <a:p>
            <a:pPr indent="0" lvl="0" marL="114300" rtl="0" algn="l">
              <a:lnSpc>
                <a:spcPct val="100000"/>
              </a:lnSpc>
              <a:spcBef>
                <a:spcPts val="1200"/>
              </a:spcBef>
              <a:spcAft>
                <a:spcPts val="0"/>
              </a:spcAft>
              <a:buSzPts val="1946"/>
              <a:buNone/>
            </a:pPr>
            <a:r>
              <a:t/>
            </a:r>
            <a:endParaRPr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0"/>
          <p:cNvSpPr txBox="1"/>
          <p:nvPr>
            <p:ph type="title"/>
          </p:nvPr>
        </p:nvSpPr>
        <p:spPr>
          <a:xfrm>
            <a:off x="0" y="0"/>
            <a:ext cx="9144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AI-Powered Detection &amp; Prevention</a:t>
            </a:r>
            <a:endParaRPr/>
          </a:p>
        </p:txBody>
      </p:sp>
      <p:sp>
        <p:nvSpPr>
          <p:cNvPr id="130" name="Google Shape;130;p30"/>
          <p:cNvSpPr txBox="1"/>
          <p:nvPr>
            <p:ph idx="1" type="body"/>
          </p:nvPr>
        </p:nvSpPr>
        <p:spPr>
          <a:xfrm>
            <a:off x="0" y="760350"/>
            <a:ext cx="9144000" cy="43833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a:solidFill>
                  <a:schemeClr val="dk1"/>
                </a:solidFill>
              </a:rPr>
              <a:t>Solution 1: Listing Verification with VLM + Text Embeddings</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Match product listings with brand catalogs using a Vision-Language Model(VLM).</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Product titles and descriptions are converted into vector embeddings which are compared against a database of genuine brand catalogs to detect unauthorized copies or mismatched items.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Visual + textual similarity thresholds to flag counterfeit or mismatched items.</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Solution 2: Fake Seller Pattern Detection</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Burst submission detection using time-series and monitoring spam accounts via behavioral flags and dashboard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Risk score assigned per seller based on listing rate, seller age, and historical review behavior.</a:t>
            </a:r>
            <a:endParaRPr>
              <a:solidFill>
                <a:schemeClr val="dk1"/>
              </a:solidFill>
            </a:endParaRPr>
          </a:p>
          <a:p>
            <a:pPr indent="-228600" lvl="0" marL="457200" rtl="0" algn="l">
              <a:lnSpc>
                <a:spcPct val="100000"/>
              </a:lnSpc>
              <a:spcBef>
                <a:spcPts val="1200"/>
              </a:spcBef>
              <a:spcAft>
                <a:spcPts val="0"/>
              </a:spcAft>
              <a:buSzPts val="3273"/>
              <a:buNone/>
            </a:pPr>
            <a:r>
              <a:t/>
            </a:r>
            <a:endParaRPr b="1">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1"/>
          <p:cNvSpPr txBox="1"/>
          <p:nvPr>
            <p:ph type="title"/>
          </p:nvPr>
        </p:nvSpPr>
        <p:spPr>
          <a:xfrm>
            <a:off x="0" y="0"/>
            <a:ext cx="9144000" cy="857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2500"/>
              <a:t>Reinforcing Review Authenticity</a:t>
            </a:r>
            <a:endParaRPr sz="2500">
              <a:latin typeface="NTR"/>
              <a:ea typeface="NTR"/>
              <a:cs typeface="NTR"/>
              <a:sym typeface="NTR"/>
            </a:endParaRPr>
          </a:p>
        </p:txBody>
      </p:sp>
      <p:sp>
        <p:nvSpPr>
          <p:cNvPr id="136" name="Google Shape;136;p31"/>
          <p:cNvSpPr txBox="1"/>
          <p:nvPr>
            <p:ph idx="1" type="body"/>
          </p:nvPr>
        </p:nvSpPr>
        <p:spPr>
          <a:xfrm>
            <a:off x="0" y="857400"/>
            <a:ext cx="9247200" cy="43608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SzPts val="1100"/>
              <a:buNone/>
            </a:pPr>
            <a:r>
              <a:rPr b="1" lang="en">
                <a:solidFill>
                  <a:schemeClr val="dk1"/>
                </a:solidFill>
              </a:rPr>
              <a:t>Solution 3: Multi-Layered Review and </a:t>
            </a:r>
            <a:r>
              <a:rPr b="1" lang="en">
                <a:solidFill>
                  <a:schemeClr val="dk1"/>
                </a:solidFill>
              </a:rPr>
              <a:t>Purchase-Gated Reviews</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Only verified purchases (≥7 days old) are allowed to leave reviews.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Device/IP-based duplication checks and timing pattern analysis prevent spam.</a:t>
            </a:r>
            <a:endParaRPr>
              <a:solidFill>
                <a:schemeClr val="dk1"/>
              </a:solidFill>
            </a:endParaRPr>
          </a:p>
          <a:p>
            <a:pPr indent="0" lvl="0" marL="0" rtl="0" algn="l">
              <a:spcBef>
                <a:spcPts val="1200"/>
              </a:spcBef>
              <a:spcAft>
                <a:spcPts val="0"/>
              </a:spcAft>
              <a:buSzPts val="1100"/>
              <a:buNone/>
            </a:pPr>
            <a:r>
              <a:rPr b="1" lang="en">
                <a:solidFill>
                  <a:schemeClr val="dk1"/>
                </a:solidFill>
              </a:rPr>
              <a:t>Solution 4: Advanced LLM-Driven Review Scoring with Chain-of-Thought</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LLM  generates an explicit “thinking trace” identifying suspicious phrases, repeated structures with lightweight classifier head which assigns binary sentiment labels.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Dynamic review confidence score filters out unreliable feedback in real time.</a:t>
            </a:r>
            <a:endParaRPr>
              <a:solidFill>
                <a:schemeClr val="dk1"/>
              </a:solidFill>
            </a:endParaRPr>
          </a:p>
          <a:p>
            <a:pPr indent="0" lvl="0" marL="0" rtl="0" algn="l">
              <a:spcBef>
                <a:spcPts val="1200"/>
              </a:spcBef>
              <a:spcAft>
                <a:spcPts val="0"/>
              </a:spcAft>
              <a:buSzPts val="1100"/>
              <a:buNone/>
            </a:pPr>
            <a:r>
              <a:t/>
            </a:r>
            <a:endParaRPr>
              <a:solidFill>
                <a:schemeClr val="dk1"/>
              </a:solidFill>
            </a:endParaRPr>
          </a:p>
          <a:p>
            <a:pPr indent="0" lvl="0" marL="228600" rtl="0" algn="l">
              <a:lnSpc>
                <a:spcPct val="115000"/>
              </a:lnSpc>
              <a:spcBef>
                <a:spcPts val="0"/>
              </a:spcBef>
              <a:spcAft>
                <a:spcPts val="0"/>
              </a:spcAft>
              <a:buSzPts val="1800"/>
              <a:buNone/>
            </a:pPr>
            <a:r>
              <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2"/>
          <p:cNvSpPr txBox="1"/>
          <p:nvPr>
            <p:ph type="title"/>
          </p:nvPr>
        </p:nvSpPr>
        <p:spPr>
          <a:xfrm>
            <a:off x="0" y="0"/>
            <a:ext cx="9144000" cy="7512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3111"/>
              <a:buNone/>
            </a:pPr>
            <a:r>
              <a:rPr lang="en"/>
              <a:t>Roadmap &amp; Next Steps</a:t>
            </a:r>
            <a:endParaRPr/>
          </a:p>
        </p:txBody>
      </p:sp>
      <p:sp>
        <p:nvSpPr>
          <p:cNvPr id="142" name="Google Shape;142;p32"/>
          <p:cNvSpPr txBox="1"/>
          <p:nvPr>
            <p:ph idx="1" type="body"/>
          </p:nvPr>
        </p:nvSpPr>
        <p:spPr>
          <a:xfrm>
            <a:off x="0" y="694150"/>
            <a:ext cx="9308400" cy="4449300"/>
          </a:xfrm>
          <a:prstGeom prst="rect">
            <a:avLst/>
          </a:prstGeom>
          <a:noFill/>
          <a:ln>
            <a:noFill/>
          </a:ln>
        </p:spPr>
        <p:txBody>
          <a:bodyPr anchorCtr="0" anchor="t" bIns="91425" lIns="91425" spcFirstLastPara="1" rIns="91425" wrap="square" tIns="91425">
            <a:noAutofit/>
          </a:bodyPr>
          <a:lstStyle/>
          <a:p>
            <a:pPr indent="-311150" lvl="0" marL="457200" rtl="0" algn="l">
              <a:lnSpc>
                <a:spcPct val="100000"/>
              </a:lnSpc>
              <a:spcBef>
                <a:spcPts val="0"/>
              </a:spcBef>
              <a:spcAft>
                <a:spcPts val="0"/>
              </a:spcAft>
              <a:buClr>
                <a:schemeClr val="dk1"/>
              </a:buClr>
              <a:buSzPts val="1300"/>
              <a:buAutoNum type="arabicPeriod"/>
            </a:pPr>
            <a:r>
              <a:rPr b="1" lang="en" sz="1300">
                <a:solidFill>
                  <a:schemeClr val="dk1"/>
                </a:solidFill>
              </a:rPr>
              <a:t>Pilot Deployment &amp; A/B Testing</a:t>
            </a:r>
            <a:endParaRPr b="1" sz="1300">
              <a:solidFill>
                <a:schemeClr val="dk1"/>
              </a:solidFill>
            </a:endParaRPr>
          </a:p>
          <a:p>
            <a:pPr indent="-311150" lvl="0" marL="914400" rtl="0" algn="l">
              <a:lnSpc>
                <a:spcPct val="100000"/>
              </a:lnSpc>
              <a:spcBef>
                <a:spcPts val="0"/>
              </a:spcBef>
              <a:spcAft>
                <a:spcPts val="0"/>
              </a:spcAft>
              <a:buClr>
                <a:schemeClr val="dk1"/>
              </a:buClr>
              <a:buSzPts val="1300"/>
              <a:buChar char="●"/>
            </a:pPr>
            <a:r>
              <a:rPr lang="en" sz="1300">
                <a:solidFill>
                  <a:schemeClr val="dk1"/>
                </a:solidFill>
              </a:rPr>
              <a:t>Roll out Purchase Verification, LSTM anomaly detection, RAG content analysis, and GraphSQL rules to a small seller cohort.</a:t>
            </a:r>
            <a:br>
              <a:rPr lang="en" sz="1300">
                <a:solidFill>
                  <a:schemeClr val="dk1"/>
                </a:solidFill>
              </a:rPr>
            </a:br>
            <a:endParaRPr sz="1300">
              <a:solidFill>
                <a:schemeClr val="dk1"/>
              </a:solidFill>
            </a:endParaRPr>
          </a:p>
          <a:p>
            <a:pPr indent="-311150" lvl="0" marL="914400" rtl="0" algn="l">
              <a:lnSpc>
                <a:spcPct val="100000"/>
              </a:lnSpc>
              <a:spcBef>
                <a:spcPts val="0"/>
              </a:spcBef>
              <a:spcAft>
                <a:spcPts val="0"/>
              </a:spcAft>
              <a:buClr>
                <a:schemeClr val="dk1"/>
              </a:buClr>
              <a:buSzPts val="1300"/>
              <a:buChar char="●"/>
            </a:pPr>
            <a:r>
              <a:rPr lang="en" sz="1300">
                <a:solidFill>
                  <a:schemeClr val="dk1"/>
                </a:solidFill>
              </a:rPr>
              <a:t>Measure key metrics (false positives, review throughput, user satisfaction) and iterate thresholds.</a:t>
            </a:r>
            <a:br>
              <a:rPr lang="en" sz="1300">
                <a:solidFill>
                  <a:schemeClr val="dk1"/>
                </a:solidFill>
              </a:rPr>
            </a:br>
            <a:endParaRPr sz="1300">
              <a:solidFill>
                <a:schemeClr val="dk1"/>
              </a:solidFill>
            </a:endParaRPr>
          </a:p>
          <a:p>
            <a:pPr indent="-311150" lvl="0" marL="457200" rtl="0" algn="l">
              <a:lnSpc>
                <a:spcPct val="100000"/>
              </a:lnSpc>
              <a:spcBef>
                <a:spcPts val="0"/>
              </a:spcBef>
              <a:spcAft>
                <a:spcPts val="0"/>
              </a:spcAft>
              <a:buClr>
                <a:schemeClr val="dk1"/>
              </a:buClr>
              <a:buSzPts val="1300"/>
              <a:buAutoNum type="arabicPeriod"/>
            </a:pPr>
            <a:r>
              <a:rPr b="1" lang="en" sz="1300">
                <a:solidFill>
                  <a:schemeClr val="dk1"/>
                </a:solidFill>
              </a:rPr>
              <a:t>Model Refinement &amp; Retraining</a:t>
            </a:r>
            <a:endParaRPr b="1" sz="1300">
              <a:solidFill>
                <a:schemeClr val="dk1"/>
              </a:solidFill>
            </a:endParaRPr>
          </a:p>
          <a:p>
            <a:pPr indent="-311150" lvl="0" marL="914400" rtl="0" algn="l">
              <a:lnSpc>
                <a:spcPct val="100000"/>
              </a:lnSpc>
              <a:spcBef>
                <a:spcPts val="0"/>
              </a:spcBef>
              <a:spcAft>
                <a:spcPts val="0"/>
              </a:spcAft>
              <a:buClr>
                <a:schemeClr val="dk1"/>
              </a:buClr>
              <a:buSzPts val="1300"/>
              <a:buChar char="●"/>
            </a:pPr>
            <a:r>
              <a:rPr lang="en" sz="1300">
                <a:solidFill>
                  <a:schemeClr val="dk1"/>
                </a:solidFill>
              </a:rPr>
              <a:t>Automate weekly SageMaker retraining pipelines for the LSTM and distilled LLM, incorporating fresh review data.</a:t>
            </a:r>
            <a:endParaRPr sz="1300">
              <a:solidFill>
                <a:schemeClr val="dk1"/>
              </a:solidFill>
            </a:endParaRPr>
          </a:p>
          <a:p>
            <a:pPr indent="-311150" lvl="0" marL="914400" rtl="0" algn="l">
              <a:lnSpc>
                <a:spcPct val="100000"/>
              </a:lnSpc>
              <a:spcBef>
                <a:spcPts val="0"/>
              </a:spcBef>
              <a:spcAft>
                <a:spcPts val="0"/>
              </a:spcAft>
              <a:buClr>
                <a:schemeClr val="dk1"/>
              </a:buClr>
              <a:buSzPts val="1300"/>
              <a:buChar char="●"/>
            </a:pPr>
            <a:r>
              <a:rPr lang="en" sz="1300">
                <a:solidFill>
                  <a:schemeClr val="dk1"/>
                </a:solidFill>
              </a:rPr>
              <a:t>Tune similarity thresholds in OpenSearch embeddings based on retrieval precision/recall.</a:t>
            </a:r>
            <a:br>
              <a:rPr lang="en" sz="1300">
                <a:solidFill>
                  <a:schemeClr val="dk1"/>
                </a:solidFill>
              </a:rPr>
            </a:br>
            <a:endParaRPr sz="1300">
              <a:solidFill>
                <a:schemeClr val="dk1"/>
              </a:solidFill>
            </a:endParaRPr>
          </a:p>
          <a:p>
            <a:pPr indent="-311150" lvl="0" marL="457200" rtl="0" algn="l">
              <a:lnSpc>
                <a:spcPct val="100000"/>
              </a:lnSpc>
              <a:spcBef>
                <a:spcPts val="0"/>
              </a:spcBef>
              <a:spcAft>
                <a:spcPts val="0"/>
              </a:spcAft>
              <a:buClr>
                <a:schemeClr val="dk1"/>
              </a:buClr>
              <a:buSzPts val="1300"/>
              <a:buAutoNum type="arabicPeriod"/>
            </a:pPr>
            <a:r>
              <a:rPr b="1" lang="en" sz="1300">
                <a:solidFill>
                  <a:schemeClr val="dk1"/>
                </a:solidFill>
              </a:rPr>
              <a:t>GNN Evaluation</a:t>
            </a:r>
            <a:endParaRPr b="1" sz="1300">
              <a:solidFill>
                <a:schemeClr val="dk1"/>
              </a:solidFill>
            </a:endParaRPr>
          </a:p>
          <a:p>
            <a:pPr indent="-311150" lvl="0" marL="914400" rtl="0" algn="l">
              <a:lnSpc>
                <a:spcPct val="100000"/>
              </a:lnSpc>
              <a:spcBef>
                <a:spcPts val="0"/>
              </a:spcBef>
              <a:spcAft>
                <a:spcPts val="0"/>
              </a:spcAft>
              <a:buClr>
                <a:schemeClr val="dk1"/>
              </a:buClr>
              <a:buSzPts val="1300"/>
              <a:buChar char="●"/>
            </a:pPr>
            <a:r>
              <a:rPr lang="en" sz="1300">
                <a:solidFill>
                  <a:schemeClr val="dk1"/>
                </a:solidFill>
              </a:rPr>
              <a:t>Prototype a Graph Neural Network in SageMaker to complement rule‑based fraud queries, comparing detection lift vs. existing GraphSQL approach.</a:t>
            </a:r>
            <a:br>
              <a:rPr lang="en" sz="1300">
                <a:solidFill>
                  <a:schemeClr val="dk1"/>
                </a:solidFill>
              </a:rPr>
            </a:br>
            <a:endParaRPr sz="1300">
              <a:solidFill>
                <a:schemeClr val="dk1"/>
              </a:solidFill>
            </a:endParaRPr>
          </a:p>
          <a:p>
            <a:pPr indent="-311150" lvl="0" marL="457200" rtl="0" algn="l">
              <a:lnSpc>
                <a:spcPct val="100000"/>
              </a:lnSpc>
              <a:spcBef>
                <a:spcPts val="0"/>
              </a:spcBef>
              <a:spcAft>
                <a:spcPts val="0"/>
              </a:spcAft>
              <a:buClr>
                <a:schemeClr val="dk1"/>
              </a:buClr>
              <a:buSzPts val="1300"/>
              <a:buAutoNum type="arabicPeriod"/>
            </a:pPr>
            <a:r>
              <a:rPr b="1" lang="en" sz="1300">
                <a:solidFill>
                  <a:schemeClr val="dk1"/>
                </a:solidFill>
              </a:rPr>
              <a:t>Multi‑Modal &amp; Multi‑Language Extension</a:t>
            </a:r>
            <a:endParaRPr b="1" sz="1300">
              <a:solidFill>
                <a:schemeClr val="dk1"/>
              </a:solidFill>
            </a:endParaRPr>
          </a:p>
          <a:p>
            <a:pPr indent="-311150" lvl="0" marL="914400" rtl="0" algn="l">
              <a:lnSpc>
                <a:spcPct val="100000"/>
              </a:lnSpc>
              <a:spcBef>
                <a:spcPts val="0"/>
              </a:spcBef>
              <a:spcAft>
                <a:spcPts val="0"/>
              </a:spcAft>
              <a:buClr>
                <a:schemeClr val="dk1"/>
              </a:buClr>
              <a:buSzPts val="1300"/>
              <a:buChar char="●"/>
            </a:pPr>
            <a:r>
              <a:rPr lang="en" sz="1300">
                <a:solidFill>
                  <a:schemeClr val="dk1"/>
                </a:solidFill>
              </a:rPr>
              <a:t>Extend RAG pipeline to ingest image/video attachments and non‑English reviews (e.g., regional languages), leveraging Amazon Translate and Vision embeddings.</a:t>
            </a:r>
            <a:br>
              <a:rPr lang="en" sz="1300">
                <a:solidFill>
                  <a:schemeClr val="dk1"/>
                </a:solidFill>
              </a:rPr>
            </a:br>
            <a:endParaRPr sz="1300">
              <a:solidFill>
                <a:schemeClr val="dk1"/>
              </a:solidFill>
            </a:endParaRPr>
          </a:p>
          <a:p>
            <a:pPr indent="-311150" lvl="0" marL="457200" rtl="0" algn="l">
              <a:lnSpc>
                <a:spcPct val="100000"/>
              </a:lnSpc>
              <a:spcBef>
                <a:spcPts val="0"/>
              </a:spcBef>
              <a:spcAft>
                <a:spcPts val="0"/>
              </a:spcAft>
              <a:buClr>
                <a:schemeClr val="dk1"/>
              </a:buClr>
              <a:buSzPts val="1300"/>
              <a:buAutoNum type="arabicPeriod"/>
            </a:pPr>
            <a:r>
              <a:rPr b="1" lang="en" sz="1300">
                <a:solidFill>
                  <a:schemeClr val="dk1"/>
                </a:solidFill>
              </a:rPr>
              <a:t>Real‑Time User Feedback</a:t>
            </a:r>
            <a:endParaRPr b="1" sz="1300">
              <a:solidFill>
                <a:schemeClr val="dk1"/>
              </a:solidFill>
            </a:endParaRPr>
          </a:p>
          <a:p>
            <a:pPr indent="-311150" lvl="0" marL="914400" rtl="0" algn="l">
              <a:lnSpc>
                <a:spcPct val="100000"/>
              </a:lnSpc>
              <a:spcBef>
                <a:spcPts val="0"/>
              </a:spcBef>
              <a:spcAft>
                <a:spcPts val="0"/>
              </a:spcAft>
              <a:buClr>
                <a:schemeClr val="dk1"/>
              </a:buClr>
              <a:buSzPts val="1300"/>
              <a:buChar char="●"/>
            </a:pPr>
            <a:r>
              <a:rPr lang="en" sz="1300">
                <a:solidFill>
                  <a:schemeClr val="dk1"/>
                </a:solidFill>
              </a:rPr>
              <a:t>Add in–app notifications powered by Lambda and SNS to inform customers of review eligibility, suspension appeals, or fraud flags instantly.</a:t>
            </a:r>
            <a:endParaRPr sz="1300">
              <a:solidFill>
                <a:schemeClr val="dk1"/>
              </a:solidFill>
            </a:endParaRPr>
          </a:p>
          <a:p>
            <a:pPr indent="-228600" lvl="0" marL="457200" rtl="0" algn="l">
              <a:lnSpc>
                <a:spcPct val="100000"/>
              </a:lnSpc>
              <a:spcBef>
                <a:spcPts val="1200"/>
              </a:spcBef>
              <a:spcAft>
                <a:spcPts val="0"/>
              </a:spcAft>
              <a:buSzPts val="1800"/>
              <a:buNone/>
            </a:pPr>
            <a:r>
              <a:t/>
            </a:r>
            <a:endParaRPr sz="1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3"/>
          <p:cNvSpPr txBox="1"/>
          <p:nvPr>
            <p:ph type="title"/>
          </p:nvPr>
        </p:nvSpPr>
        <p:spPr>
          <a:xfrm>
            <a:off x="0" y="0"/>
            <a:ext cx="9144000" cy="751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111111"/>
              <a:buFont typeface="Arial"/>
              <a:buNone/>
            </a:pPr>
            <a:r>
              <a:rPr lang="en"/>
              <a:t>Roadmap &amp; Next Steps</a:t>
            </a:r>
            <a:endParaRPr/>
          </a:p>
          <a:p>
            <a:pPr indent="0" lvl="0" marL="0" rtl="0" algn="l">
              <a:spcBef>
                <a:spcPts val="0"/>
              </a:spcBef>
              <a:spcAft>
                <a:spcPts val="0"/>
              </a:spcAft>
              <a:buNone/>
            </a:pPr>
            <a:r>
              <a:t/>
            </a:r>
            <a:endParaRPr/>
          </a:p>
        </p:txBody>
      </p:sp>
      <p:sp>
        <p:nvSpPr>
          <p:cNvPr id="148" name="Google Shape;148;p33"/>
          <p:cNvSpPr txBox="1"/>
          <p:nvPr>
            <p:ph idx="1" type="body"/>
          </p:nvPr>
        </p:nvSpPr>
        <p:spPr>
          <a:xfrm>
            <a:off x="0" y="694150"/>
            <a:ext cx="9144000" cy="44493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b="1" lang="en" sz="1300">
                <a:solidFill>
                  <a:schemeClr val="dk1"/>
                </a:solidFill>
              </a:rPr>
              <a:t>    6.        Scalability &amp; Global Rollout</a:t>
            </a:r>
            <a:endParaRPr b="1" sz="1300">
              <a:solidFill>
                <a:schemeClr val="dk1"/>
              </a:solidFill>
            </a:endParaRPr>
          </a:p>
          <a:p>
            <a:pPr indent="-311150" lvl="1" marL="914400" rtl="0" algn="l">
              <a:lnSpc>
                <a:spcPct val="100000"/>
              </a:lnSpc>
              <a:spcBef>
                <a:spcPts val="1200"/>
              </a:spcBef>
              <a:spcAft>
                <a:spcPts val="0"/>
              </a:spcAft>
              <a:buClr>
                <a:schemeClr val="dk1"/>
              </a:buClr>
              <a:buSzPts val="1300"/>
              <a:buChar char="○"/>
            </a:pPr>
            <a:r>
              <a:rPr lang="en" sz="1300">
                <a:solidFill>
                  <a:schemeClr val="dk1"/>
                </a:solidFill>
              </a:rPr>
              <a:t>Migrate DynamoDB to global tables for multi‑region resiliency; shard Neptune clusters for high‑throughput graph queries.</a:t>
            </a:r>
            <a:endParaRPr sz="1300">
              <a:solidFill>
                <a:schemeClr val="dk1"/>
              </a:solidFill>
            </a:endParaRPr>
          </a:p>
          <a:p>
            <a:pPr indent="0" lvl="0" marL="0" rtl="0" algn="l">
              <a:lnSpc>
                <a:spcPct val="100000"/>
              </a:lnSpc>
              <a:spcBef>
                <a:spcPts val="1200"/>
              </a:spcBef>
              <a:spcAft>
                <a:spcPts val="0"/>
              </a:spcAft>
              <a:buNone/>
            </a:pPr>
            <a:r>
              <a:rPr b="1" lang="en" sz="1300">
                <a:solidFill>
                  <a:schemeClr val="dk1"/>
                </a:solidFill>
              </a:rPr>
              <a:t>    7.        Compliance &amp; Privacy Hardening</a:t>
            </a:r>
            <a:endParaRPr b="1" sz="1300">
              <a:solidFill>
                <a:schemeClr val="dk1"/>
              </a:solidFill>
            </a:endParaRPr>
          </a:p>
          <a:p>
            <a:pPr indent="-311150" lvl="1" marL="914400" rtl="0" algn="l">
              <a:lnSpc>
                <a:spcPct val="100000"/>
              </a:lnSpc>
              <a:spcBef>
                <a:spcPts val="1200"/>
              </a:spcBef>
              <a:spcAft>
                <a:spcPts val="0"/>
              </a:spcAft>
              <a:buClr>
                <a:schemeClr val="dk1"/>
              </a:buClr>
              <a:buSzPts val="1300"/>
              <a:buChar char="○"/>
            </a:pPr>
            <a:r>
              <a:rPr lang="en" sz="1300">
                <a:solidFill>
                  <a:schemeClr val="dk1"/>
                </a:solidFill>
              </a:rPr>
              <a:t>Embed audit log exports into AWS Lake Formation; ensure GDPR/CCPA workflows for user data deletion and appeal records.</a:t>
            </a:r>
            <a:endParaRPr sz="1300">
              <a:solidFill>
                <a:schemeClr val="dk1"/>
              </a:solidFill>
            </a:endParaRPr>
          </a:p>
          <a:p>
            <a:pPr indent="0" lvl="0" marL="0" rtl="0" algn="l">
              <a:lnSpc>
                <a:spcPct val="100000"/>
              </a:lnSpc>
              <a:spcBef>
                <a:spcPts val="1200"/>
              </a:spcBef>
              <a:spcAft>
                <a:spcPts val="0"/>
              </a:spcAft>
              <a:buNone/>
            </a:pPr>
            <a:r>
              <a:rPr lang="en" sz="1300">
                <a:solidFill>
                  <a:schemeClr val="dk1"/>
                </a:solidFill>
              </a:rPr>
              <a:t>    </a:t>
            </a:r>
            <a:r>
              <a:rPr b="1" lang="en" sz="1300">
                <a:solidFill>
                  <a:schemeClr val="dk1"/>
                </a:solidFill>
              </a:rPr>
              <a:t>8.       Dashboard Evolution	</a:t>
            </a:r>
            <a:endParaRPr b="1" sz="1300">
              <a:solidFill>
                <a:schemeClr val="dk1"/>
              </a:solidFill>
            </a:endParaRPr>
          </a:p>
          <a:p>
            <a:pPr indent="-311150" lvl="1" marL="914400" rtl="0" algn="l">
              <a:lnSpc>
                <a:spcPct val="100000"/>
              </a:lnSpc>
              <a:spcBef>
                <a:spcPts val="1200"/>
              </a:spcBef>
              <a:spcAft>
                <a:spcPts val="0"/>
              </a:spcAft>
              <a:buClr>
                <a:schemeClr val="dk1"/>
              </a:buClr>
              <a:buSzPts val="1300"/>
              <a:buChar char="○"/>
            </a:pPr>
            <a:r>
              <a:rPr lang="en" sz="1300">
                <a:solidFill>
                  <a:schemeClr val="dk1"/>
                </a:solidFill>
              </a:rPr>
              <a:t>Enhance the Brand Protection Dashboard with predictive trend forecasting (SageMaker Forecast) and analyst “what‑if” simulation controls.</a:t>
            </a:r>
            <a:endParaRPr sz="1300">
              <a:solidFill>
                <a:schemeClr val="dk1"/>
              </a:solidFill>
            </a:endParaRPr>
          </a:p>
          <a:p>
            <a:pPr indent="0" lvl="0" marL="0" rtl="0" algn="l">
              <a:lnSpc>
                <a:spcPct val="100000"/>
              </a:lnSpc>
              <a:spcBef>
                <a:spcPts val="1200"/>
              </a:spcBef>
              <a:spcAft>
                <a:spcPts val="0"/>
              </a:spcAft>
              <a:buNone/>
            </a:pPr>
            <a:r>
              <a:rPr b="1" lang="en" sz="1300">
                <a:solidFill>
                  <a:schemeClr val="dk1"/>
                </a:solidFill>
              </a:rPr>
              <a:t>    9.          Continuous Monitoring &amp; Alerting</a:t>
            </a:r>
            <a:endParaRPr b="1" sz="1300">
              <a:solidFill>
                <a:schemeClr val="dk1"/>
              </a:solidFill>
            </a:endParaRPr>
          </a:p>
          <a:p>
            <a:pPr indent="-311150" lvl="1" marL="914400" rtl="0" algn="l">
              <a:lnSpc>
                <a:spcPct val="100000"/>
              </a:lnSpc>
              <a:spcBef>
                <a:spcPts val="1200"/>
              </a:spcBef>
              <a:spcAft>
                <a:spcPts val="0"/>
              </a:spcAft>
              <a:buClr>
                <a:schemeClr val="dk1"/>
              </a:buClr>
              <a:buSzPts val="1300"/>
              <a:buChar char="○"/>
            </a:pPr>
            <a:r>
              <a:rPr lang="en" sz="1300">
                <a:solidFill>
                  <a:schemeClr val="dk1"/>
                </a:solidFill>
              </a:rPr>
              <a:t>Introduce CloudWatch Synthetics for end‑to‑end pipeline health checks and anomaly detection on metric drifts.</a:t>
            </a:r>
            <a:endParaRPr sz="1300">
              <a:solidFill>
                <a:schemeClr val="dk1"/>
              </a:solidFill>
            </a:endParaRPr>
          </a:p>
          <a:p>
            <a:pPr indent="0" lvl="0" marL="0" rtl="0" algn="l">
              <a:lnSpc>
                <a:spcPct val="100000"/>
              </a:lnSpc>
              <a:spcBef>
                <a:spcPts val="1200"/>
              </a:spcBef>
              <a:spcAft>
                <a:spcPts val="0"/>
              </a:spcAft>
              <a:buNone/>
            </a:pPr>
            <a:r>
              <a:rPr lang="en" sz="1300">
                <a:solidFill>
                  <a:schemeClr val="dk1"/>
                </a:solidFill>
              </a:rPr>
              <a:t>    </a:t>
            </a:r>
            <a:r>
              <a:rPr b="1" lang="en" sz="1300">
                <a:solidFill>
                  <a:schemeClr val="dk1"/>
                </a:solidFill>
              </a:rPr>
              <a:t>10.        Long‑Term Vision</a:t>
            </a:r>
            <a:endParaRPr b="1" sz="1300">
              <a:solidFill>
                <a:schemeClr val="dk1"/>
              </a:solidFill>
            </a:endParaRPr>
          </a:p>
          <a:p>
            <a:pPr indent="-311150" lvl="1" marL="914400" rtl="0" algn="l">
              <a:lnSpc>
                <a:spcPct val="100000"/>
              </a:lnSpc>
              <a:spcBef>
                <a:spcPts val="1200"/>
              </a:spcBef>
              <a:spcAft>
                <a:spcPts val="0"/>
              </a:spcAft>
              <a:buClr>
                <a:schemeClr val="dk1"/>
              </a:buClr>
              <a:buSzPts val="1300"/>
              <a:buChar char="○"/>
            </a:pPr>
            <a:r>
              <a:rPr lang="en" sz="1300">
                <a:solidFill>
                  <a:schemeClr val="dk1"/>
                </a:solidFill>
              </a:rPr>
              <a:t>Integrate a self‑optimizing RL agent that dynamically adjusts fraud‑detection policies (e.g., review thresholds, remediation actions) to maximize authenticity while minimizing user friction.</a:t>
            </a:r>
            <a:br>
              <a:rPr lang="en" sz="1300">
                <a:solidFill>
                  <a:schemeClr val="dk1"/>
                </a:solidFill>
              </a:rPr>
            </a:br>
            <a:endParaRPr sz="1300">
              <a:solidFill>
                <a:schemeClr val="dk1"/>
              </a:solidFill>
            </a:endParaRPr>
          </a:p>
          <a:p>
            <a:pPr indent="0" lvl="0" marL="0" rtl="0" algn="l">
              <a:lnSpc>
                <a:spcPct val="100000"/>
              </a:lnSpc>
              <a:spcBef>
                <a:spcPts val="1200"/>
              </a:spcBef>
              <a:spcAft>
                <a:spcPts val="0"/>
              </a:spcAft>
              <a:buNone/>
            </a:pPr>
            <a:r>
              <a:t/>
            </a:r>
            <a:endParaRPr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4"/>
          <p:cNvSpPr txBox="1"/>
          <p:nvPr>
            <p:ph idx="1" type="body"/>
          </p:nvPr>
        </p:nvSpPr>
        <p:spPr>
          <a:xfrm>
            <a:off x="0" y="2120400"/>
            <a:ext cx="9144000" cy="90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4000">
                <a:latin typeface="Pacifico"/>
                <a:ea typeface="Pacifico"/>
                <a:cs typeface="Pacifico"/>
                <a:sym typeface="Pacifico"/>
              </a:rPr>
              <a:t>Thank you</a:t>
            </a:r>
            <a:endParaRPr sz="4000">
              <a:latin typeface="Pacifico"/>
              <a:ea typeface="Pacifico"/>
              <a:cs typeface="Pacifico"/>
              <a:sym typeface="Pacific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